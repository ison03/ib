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732" r:id="rId1"/>
  </p:sldMasterIdLst>
  <p:notesMasterIdLst>
    <p:notesMasterId r:id="rId10"/>
  </p:notesMasterIdLst>
  <p:sldIdLst>
    <p:sldId id="256" r:id="rId2"/>
    <p:sldId id="281" r:id="rId3"/>
    <p:sldId id="260" r:id="rId4"/>
    <p:sldId id="307" r:id="rId5"/>
    <p:sldId id="264" r:id="rId6"/>
    <p:sldId id="316" r:id="rId7"/>
    <p:sldId id="301" r:id="rId8"/>
    <p:sldId id="312" r:id="rId9"/>
  </p:sldIdLst>
  <p:sldSz cx="9144000" cy="5143500" type="screen16x9"/>
  <p:notesSz cx="6858000" cy="9144000"/>
  <p:embeddedFontLst>
    <p:embeddedFont>
      <p:font typeface="Bahnschrift SemiBold Condensed" panose="020B0502040204020203" pitchFamily="34" charset="0"/>
      <p:bold r:id="rId11"/>
    </p:embeddedFon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Calibri Light" panose="020F0302020204030204" pitchFamily="34" charset="0"/>
      <p:regular r:id="rId16"/>
      <p:italic r:id="rId17"/>
    </p:embeddedFont>
    <p:embeddedFont>
      <p:font typeface="Century Gothic" panose="020B0502020202020204" pitchFamily="34" charset="0"/>
      <p:regular r:id="rId18"/>
      <p:bold r:id="rId19"/>
      <p:italic r:id="rId20"/>
      <p:boldItalic r:id="rId21"/>
    </p:embeddedFont>
    <p:embeddedFont>
      <p:font typeface="Furore" panose="02000503020000020004" pitchFamily="50" charset="0"/>
      <p:regular r:id="rId22"/>
    </p:embeddedFont>
    <p:embeddedFont>
      <p:font typeface="Segoe UI Black" panose="020B0A02040204020203" pitchFamily="34" charset="0"/>
      <p:bold r:id="rId23"/>
      <p:boldItalic r:id="rId2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E44397-6C5D-418A-8622-E7A24D6F9FC8}" v="19" dt="2025-11-27T08:55:10.757"/>
  </p1510:revLst>
</p1510:revInfo>
</file>

<file path=ppt/tableStyles.xml><?xml version="1.0" encoding="utf-8"?>
<a:tblStyleLst xmlns:a="http://schemas.openxmlformats.org/drawingml/2006/main" def="{B1FEED42-9361-4BC6-AA66-F08D137E3E59}">
  <a:tblStyle styleId="{B1FEED42-9361-4BC6-AA66-F08D137E3E5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90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font" Target="fonts/font14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28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0" name="Google Shape;98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Google Shape;1352;gb8ad8aa3d3_0_7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3" name="Google Shape;1353;gb8ad8aa3d3_0_7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gb8ad8aa3d3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2" name="Google Shape;1022;gb8ad8aa3d3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gb8f66849e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2" name="Google Shape;992;gb8f66849e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460847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gb8ad8aa3d3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4" name="Google Shape;1064;gb8ad8aa3d3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gb8ad8aa3d3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4" name="Google Shape;1064;gb8ad8aa3d3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25228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" name="Google Shape;1345;gb8ad8aa3d3_0_1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6" name="Google Shape;1346;gb8ad8aa3d3_0_1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533404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" name="Google Shape;1345;gb8ad8aa3d3_0_1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6" name="Google Shape;1346;gb8ad8aa3d3_0_1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897027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10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4163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4708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9294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7527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1898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210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12126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304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349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98842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6"/>
          <p:cNvSpPr txBox="1">
            <a:spLocks noGrp="1"/>
          </p:cNvSpPr>
          <p:nvPr>
            <p:ph type="title"/>
          </p:nvPr>
        </p:nvSpPr>
        <p:spPr>
          <a:xfrm>
            <a:off x="723388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Segoe UI Black" panose="020B0A02040204020203" pitchFamily="34" charset="0"/>
                <a:ea typeface="Segoe UI Black" panose="020B0A02040204020203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445" name="Google Shape;445;p16"/>
          <p:cNvSpPr txBox="1">
            <a:spLocks noGrp="1"/>
          </p:cNvSpPr>
          <p:nvPr>
            <p:ph type="title" idx="2"/>
          </p:nvPr>
        </p:nvSpPr>
        <p:spPr>
          <a:xfrm>
            <a:off x="2620769" y="1735175"/>
            <a:ext cx="5785500" cy="52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latin typeface="Segoe UI Black" panose="020B0A02040204020203" pitchFamily="34" charset="0"/>
                <a:ea typeface="Segoe UI Black" panose="020B0A02040204020203" pitchFamily="34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 dirty="0"/>
          </a:p>
        </p:txBody>
      </p:sp>
      <p:sp>
        <p:nvSpPr>
          <p:cNvPr id="446" name="Google Shape;446;p16"/>
          <p:cNvSpPr txBox="1">
            <a:spLocks noGrp="1"/>
          </p:cNvSpPr>
          <p:nvPr>
            <p:ph type="subTitle" idx="1"/>
          </p:nvPr>
        </p:nvSpPr>
        <p:spPr>
          <a:xfrm>
            <a:off x="2618225" y="2260475"/>
            <a:ext cx="5785500" cy="234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  <a:latin typeface="Century Gothic" panose="020B0502020202020204" pitchFamily="34" charset="0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525800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7"/>
          <p:cNvSpPr txBox="1">
            <a:spLocks noGrp="1"/>
          </p:cNvSpPr>
          <p:nvPr>
            <p:ph type="title"/>
          </p:nvPr>
        </p:nvSpPr>
        <p:spPr>
          <a:xfrm>
            <a:off x="1602450" y="1456075"/>
            <a:ext cx="5939100" cy="54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Segoe UI Black" panose="020B0A02040204020203" pitchFamily="34" charset="0"/>
                <a:ea typeface="Segoe UI Black" panose="020B0A02040204020203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217" name="Google Shape;217;p7"/>
          <p:cNvSpPr txBox="1">
            <a:spLocks noGrp="1"/>
          </p:cNvSpPr>
          <p:nvPr>
            <p:ph type="subTitle" idx="1"/>
          </p:nvPr>
        </p:nvSpPr>
        <p:spPr>
          <a:xfrm>
            <a:off x="1602450" y="1999350"/>
            <a:ext cx="5939100" cy="172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Century Gothic" panose="020B0502020202020204" pitchFamily="34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658244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5"/>
          <p:cNvSpPr txBox="1">
            <a:spLocks noGrp="1"/>
          </p:cNvSpPr>
          <p:nvPr>
            <p:ph type="title"/>
          </p:nvPr>
        </p:nvSpPr>
        <p:spPr>
          <a:xfrm>
            <a:off x="723388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Segoe UI Black" panose="020B0A02040204020203" pitchFamily="34" charset="0"/>
                <a:ea typeface="Segoe UI Black" panose="020B0A02040204020203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441" name="Google Shape;441;p15"/>
          <p:cNvSpPr txBox="1">
            <a:spLocks noGrp="1"/>
          </p:cNvSpPr>
          <p:nvPr>
            <p:ph type="title" idx="2"/>
          </p:nvPr>
        </p:nvSpPr>
        <p:spPr>
          <a:xfrm>
            <a:off x="716622" y="1735175"/>
            <a:ext cx="5788200" cy="52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latin typeface="Segoe UI Black" panose="020B0A02040204020203" pitchFamily="34" charset="0"/>
                <a:ea typeface="Segoe UI Black" panose="020B0A02040204020203" pitchFamily="34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 dirty="0"/>
          </a:p>
        </p:txBody>
      </p:sp>
      <p:sp>
        <p:nvSpPr>
          <p:cNvPr id="442" name="Google Shape;442;p15"/>
          <p:cNvSpPr txBox="1">
            <a:spLocks noGrp="1"/>
          </p:cNvSpPr>
          <p:nvPr>
            <p:ph type="subTitle" idx="1"/>
          </p:nvPr>
        </p:nvSpPr>
        <p:spPr>
          <a:xfrm>
            <a:off x="713225" y="2260475"/>
            <a:ext cx="5788200" cy="21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  <a:latin typeface="Century Gothic" panose="020B0502020202020204" pitchFamily="34" charset="0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681084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3"/>
          <p:cNvSpPr txBox="1">
            <a:spLocks noGrp="1"/>
          </p:cNvSpPr>
          <p:nvPr>
            <p:ph type="title"/>
          </p:nvPr>
        </p:nvSpPr>
        <p:spPr>
          <a:xfrm>
            <a:off x="1746945" y="1731425"/>
            <a:ext cx="2723400" cy="51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Segoe UI Black" panose="020B0A02040204020203" pitchFamily="34" charset="0"/>
                <a:ea typeface="Segoe UI Black" panose="020B0A02040204020203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 dirty="0"/>
          </a:p>
        </p:txBody>
      </p:sp>
      <p:sp>
        <p:nvSpPr>
          <p:cNvPr id="338" name="Google Shape;338;p13"/>
          <p:cNvSpPr txBox="1">
            <a:spLocks noGrp="1"/>
          </p:cNvSpPr>
          <p:nvPr>
            <p:ph type="title" idx="2" hasCustomPrompt="1"/>
          </p:nvPr>
        </p:nvSpPr>
        <p:spPr>
          <a:xfrm>
            <a:off x="797895" y="1725525"/>
            <a:ext cx="951300" cy="51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100">
                <a:latin typeface="Segoe UI Black" panose="020B0A02040204020203" pitchFamily="34" charset="0"/>
                <a:ea typeface="Segoe UI Black" panose="020B0A02040204020203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dirty="0"/>
              <a:t>xx%</a:t>
            </a:r>
          </a:p>
        </p:txBody>
      </p:sp>
      <p:sp>
        <p:nvSpPr>
          <p:cNvPr id="339" name="Google Shape;339;p13"/>
          <p:cNvSpPr txBox="1">
            <a:spLocks noGrp="1"/>
          </p:cNvSpPr>
          <p:nvPr>
            <p:ph type="subTitle" idx="1"/>
          </p:nvPr>
        </p:nvSpPr>
        <p:spPr>
          <a:xfrm>
            <a:off x="1749195" y="2248419"/>
            <a:ext cx="2723400" cy="46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Century Gothic" panose="020B0502020202020204" pitchFamily="34" charset="0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40" name="Google Shape;340;p13"/>
          <p:cNvSpPr txBox="1">
            <a:spLocks noGrp="1"/>
          </p:cNvSpPr>
          <p:nvPr>
            <p:ph type="title" idx="3"/>
          </p:nvPr>
        </p:nvSpPr>
        <p:spPr>
          <a:xfrm>
            <a:off x="1746938" y="3388125"/>
            <a:ext cx="2723400" cy="51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Segoe UI Black" panose="020B0A02040204020203" pitchFamily="34" charset="0"/>
                <a:ea typeface="Segoe UI Black" panose="020B0A02040204020203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 dirty="0"/>
          </a:p>
        </p:txBody>
      </p:sp>
      <p:sp>
        <p:nvSpPr>
          <p:cNvPr id="341" name="Google Shape;341;p13"/>
          <p:cNvSpPr txBox="1">
            <a:spLocks noGrp="1"/>
          </p:cNvSpPr>
          <p:nvPr>
            <p:ph type="title" idx="4" hasCustomPrompt="1"/>
          </p:nvPr>
        </p:nvSpPr>
        <p:spPr>
          <a:xfrm>
            <a:off x="797895" y="3388125"/>
            <a:ext cx="951300" cy="51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100">
                <a:latin typeface="Segoe UI Black" panose="020B0A02040204020203" pitchFamily="34" charset="0"/>
                <a:ea typeface="Segoe UI Black" panose="020B0A02040204020203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dirty="0"/>
              <a:t>xx%</a:t>
            </a:r>
          </a:p>
        </p:txBody>
      </p:sp>
      <p:sp>
        <p:nvSpPr>
          <p:cNvPr id="342" name="Google Shape;342;p13"/>
          <p:cNvSpPr txBox="1">
            <a:spLocks noGrp="1"/>
          </p:cNvSpPr>
          <p:nvPr>
            <p:ph type="subTitle" idx="5"/>
          </p:nvPr>
        </p:nvSpPr>
        <p:spPr>
          <a:xfrm>
            <a:off x="1746938" y="3897362"/>
            <a:ext cx="2723400" cy="46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Century Gothic" panose="020B0502020202020204" pitchFamily="34" charset="0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43" name="Google Shape;343;p13"/>
          <p:cNvSpPr txBox="1">
            <a:spLocks noGrp="1"/>
          </p:cNvSpPr>
          <p:nvPr>
            <p:ph type="title" idx="6"/>
          </p:nvPr>
        </p:nvSpPr>
        <p:spPr>
          <a:xfrm>
            <a:off x="5602945" y="1728250"/>
            <a:ext cx="2731200" cy="51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Segoe UI Black" panose="020B0A02040204020203" pitchFamily="34" charset="0"/>
                <a:ea typeface="Segoe UI Black" panose="020B0A02040204020203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 dirty="0"/>
          </a:p>
        </p:txBody>
      </p:sp>
      <p:sp>
        <p:nvSpPr>
          <p:cNvPr id="344" name="Google Shape;344;p13"/>
          <p:cNvSpPr txBox="1">
            <a:spLocks noGrp="1"/>
          </p:cNvSpPr>
          <p:nvPr>
            <p:ph type="title" idx="7" hasCustomPrompt="1"/>
          </p:nvPr>
        </p:nvSpPr>
        <p:spPr>
          <a:xfrm>
            <a:off x="4659709" y="1731424"/>
            <a:ext cx="951300" cy="51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100">
                <a:latin typeface="Segoe UI Black" panose="020B0A02040204020203" pitchFamily="34" charset="0"/>
                <a:ea typeface="Segoe UI Black" panose="020B0A02040204020203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dirty="0"/>
              <a:t>xx%</a:t>
            </a:r>
          </a:p>
        </p:txBody>
      </p:sp>
      <p:sp>
        <p:nvSpPr>
          <p:cNvPr id="345" name="Google Shape;345;p13"/>
          <p:cNvSpPr txBox="1">
            <a:spLocks noGrp="1"/>
          </p:cNvSpPr>
          <p:nvPr>
            <p:ph type="subTitle" idx="8"/>
          </p:nvPr>
        </p:nvSpPr>
        <p:spPr>
          <a:xfrm>
            <a:off x="5605195" y="2242520"/>
            <a:ext cx="2731200" cy="46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Century Gothic" panose="020B0502020202020204" pitchFamily="34" charset="0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46" name="Google Shape;346;p13"/>
          <p:cNvSpPr txBox="1">
            <a:spLocks noGrp="1"/>
          </p:cNvSpPr>
          <p:nvPr>
            <p:ph type="title" idx="9"/>
          </p:nvPr>
        </p:nvSpPr>
        <p:spPr>
          <a:xfrm>
            <a:off x="5602945" y="3388875"/>
            <a:ext cx="2731200" cy="51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Segoe UI Black" panose="020B0A02040204020203" pitchFamily="34" charset="0"/>
                <a:ea typeface="Segoe UI Black" panose="020B0A02040204020203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 dirty="0"/>
          </a:p>
        </p:txBody>
      </p:sp>
      <p:sp>
        <p:nvSpPr>
          <p:cNvPr id="347" name="Google Shape;347;p13"/>
          <p:cNvSpPr txBox="1">
            <a:spLocks noGrp="1"/>
          </p:cNvSpPr>
          <p:nvPr>
            <p:ph type="title" idx="13" hasCustomPrompt="1"/>
          </p:nvPr>
        </p:nvSpPr>
        <p:spPr>
          <a:xfrm>
            <a:off x="4659709" y="3389163"/>
            <a:ext cx="951300" cy="51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100">
                <a:latin typeface="Segoe UI Black" panose="020B0A02040204020203" pitchFamily="34" charset="0"/>
                <a:ea typeface="Segoe UI Black" panose="020B0A02040204020203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dirty="0"/>
              <a:t>xx%</a:t>
            </a:r>
          </a:p>
        </p:txBody>
      </p:sp>
      <p:sp>
        <p:nvSpPr>
          <p:cNvPr id="348" name="Google Shape;348;p13"/>
          <p:cNvSpPr txBox="1">
            <a:spLocks noGrp="1"/>
          </p:cNvSpPr>
          <p:nvPr>
            <p:ph type="subTitle" idx="14"/>
          </p:nvPr>
        </p:nvSpPr>
        <p:spPr>
          <a:xfrm>
            <a:off x="5602945" y="3897362"/>
            <a:ext cx="2731200" cy="46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Century Gothic" panose="020B0502020202020204" pitchFamily="34" charset="0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49" name="Google Shape;349;p13"/>
          <p:cNvSpPr txBox="1">
            <a:spLocks noGrp="1"/>
          </p:cNvSpPr>
          <p:nvPr>
            <p:ph type="title" idx="15"/>
          </p:nvPr>
        </p:nvSpPr>
        <p:spPr>
          <a:xfrm>
            <a:off x="723388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Segoe UI Black" panose="020B0A02040204020203" pitchFamily="34" charset="0"/>
                <a:ea typeface="Segoe UI Black" panose="020B0A02040204020203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160453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"/>
          <p:cNvSpPr txBox="1">
            <a:spLocks noGrp="1"/>
          </p:cNvSpPr>
          <p:nvPr>
            <p:ph type="subTitle" idx="1"/>
          </p:nvPr>
        </p:nvSpPr>
        <p:spPr>
          <a:xfrm>
            <a:off x="720000" y="1451282"/>
            <a:ext cx="1729200" cy="129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ebas Neue"/>
              <a:buNone/>
              <a:defRPr sz="2400"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  <a:sym typeface="Paytone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 dirty="0"/>
          </a:p>
        </p:txBody>
      </p:sp>
      <p:sp>
        <p:nvSpPr>
          <p:cNvPr id="156" name="Google Shape;156;p5"/>
          <p:cNvSpPr txBox="1">
            <a:spLocks noGrp="1"/>
          </p:cNvSpPr>
          <p:nvPr>
            <p:ph type="subTitle" idx="2"/>
          </p:nvPr>
        </p:nvSpPr>
        <p:spPr>
          <a:xfrm>
            <a:off x="3346901" y="3569025"/>
            <a:ext cx="1729200" cy="129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ebas Neue"/>
              <a:buNone/>
              <a:defRPr sz="2400"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  <a:sym typeface="Paytone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 dirty="0"/>
          </a:p>
        </p:txBody>
      </p:sp>
      <p:sp>
        <p:nvSpPr>
          <p:cNvPr id="157" name="Google Shape;157;p5"/>
          <p:cNvSpPr txBox="1">
            <a:spLocks noGrp="1"/>
          </p:cNvSpPr>
          <p:nvPr>
            <p:ph type="subTitle" idx="3"/>
          </p:nvPr>
        </p:nvSpPr>
        <p:spPr>
          <a:xfrm>
            <a:off x="2449150" y="1451282"/>
            <a:ext cx="3342600" cy="129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Century Gothic" panose="020B0502020202020204" pitchFamily="34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58" name="Google Shape;158;p5"/>
          <p:cNvSpPr txBox="1">
            <a:spLocks noGrp="1"/>
          </p:cNvSpPr>
          <p:nvPr>
            <p:ph type="subTitle" idx="4"/>
          </p:nvPr>
        </p:nvSpPr>
        <p:spPr>
          <a:xfrm>
            <a:off x="5104675" y="3569025"/>
            <a:ext cx="3342600" cy="129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Century Gothic" panose="020B0502020202020204" pitchFamily="34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59" name="Google Shape;159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Segoe UI Black" panose="020B0A02040204020203" pitchFamily="34" charset="0"/>
                <a:ea typeface="Segoe UI Black" panose="020B0A02040204020203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77582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1467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FC6DA326-3A06-2B3F-6554-57F4DE3F78BC}"/>
              </a:ext>
            </a:extLst>
          </p:cNvPr>
          <p:cNvSpPr/>
          <p:nvPr/>
        </p:nvSpPr>
        <p:spPr>
          <a:xfrm>
            <a:off x="1470803" y="1323439"/>
            <a:ext cx="6202392" cy="2496621"/>
          </a:xfrm>
          <a:prstGeom prst="round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82" name="Google Shape;982;p32"/>
          <p:cNvSpPr txBox="1">
            <a:spLocks noGrp="1"/>
          </p:cNvSpPr>
          <p:nvPr>
            <p:ph type="ctrTitle"/>
          </p:nvPr>
        </p:nvSpPr>
        <p:spPr>
          <a:xfrm>
            <a:off x="1670796" y="2245040"/>
            <a:ext cx="5802406" cy="146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3600" dirty="0">
                <a:latin typeface="Furore" panose="02000503020000020004" pitchFamily="50" charset="0"/>
                <a:ea typeface="Segoe UI Black"/>
                <a:cs typeface="+mj-lt"/>
              </a:rPr>
              <a:t>Интеллектуальная система обнаружения аномалий</a:t>
            </a:r>
            <a:endParaRPr lang="ru-RU" dirty="0">
              <a:latin typeface="Furore" panose="02000503020000020004" pitchFamily="50" charset="0"/>
            </a:endParaRPr>
          </a:p>
        </p:txBody>
      </p:sp>
      <p:sp>
        <p:nvSpPr>
          <p:cNvPr id="5" name="Google Shape;982;p32">
            <a:extLst>
              <a:ext uri="{FF2B5EF4-FFF2-40B4-BE49-F238E27FC236}">
                <a16:creationId xmlns:a16="http://schemas.microsoft.com/office/drawing/2014/main" id="{9242F114-E788-4607-A2D3-80068F6538BD}"/>
              </a:ext>
            </a:extLst>
          </p:cNvPr>
          <p:cNvSpPr txBox="1">
            <a:spLocks/>
          </p:cNvSpPr>
          <p:nvPr/>
        </p:nvSpPr>
        <p:spPr>
          <a:xfrm>
            <a:off x="136304" y="3856595"/>
            <a:ext cx="4882505" cy="1135266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ru-RU" sz="1600" dirty="0">
                <a:latin typeface="Furore" panose="02000503020000020004" pitchFamily="50" charset="0"/>
                <a:ea typeface="Segoe UI Black"/>
              </a:rPr>
              <a:t>Разработал: </a:t>
            </a:r>
            <a:r>
              <a:rPr lang="ru-RU" sz="1600" dirty="0" err="1">
                <a:latin typeface="Furore" panose="02000503020000020004" pitchFamily="50" charset="0"/>
                <a:ea typeface="Segoe UI Black"/>
              </a:rPr>
              <a:t>Ярыльченко</a:t>
            </a:r>
            <a:r>
              <a:rPr lang="ru-RU" sz="1600" dirty="0">
                <a:latin typeface="Furore" panose="02000503020000020004" pitchFamily="50" charset="0"/>
                <a:ea typeface="Segoe UI Black"/>
              </a:rPr>
              <a:t> Андрей Сергеевич, 10Р</a:t>
            </a:r>
            <a:endParaRPr lang="ru-RU" sz="1600" dirty="0">
              <a:latin typeface="Furore" panose="02000503020000020004" pitchFamily="50" charset="0"/>
              <a:ea typeface="Segoe UI Black" panose="020B0A02040204020203" pitchFamily="34" charset="0"/>
            </a:endParaRPr>
          </a:p>
          <a:p>
            <a:pPr algn="l">
              <a:lnSpc>
                <a:spcPct val="100000"/>
              </a:lnSpc>
            </a:pPr>
            <a:r>
              <a:rPr lang="ru-RU" sz="1600" dirty="0">
                <a:latin typeface="Furore" panose="02000503020000020004" pitchFamily="50" charset="0"/>
                <a:ea typeface="Segoe UI Black"/>
              </a:rPr>
              <a:t>Руководитель: </a:t>
            </a:r>
            <a:r>
              <a:rPr lang="ru-RU" sz="1600" dirty="0" err="1">
                <a:latin typeface="Furore" panose="02000503020000020004" pitchFamily="50" charset="0"/>
                <a:ea typeface="Segoe UI Black"/>
              </a:rPr>
              <a:t>рябухин</a:t>
            </a:r>
            <a:r>
              <a:rPr lang="ru-RU" sz="1600" dirty="0">
                <a:latin typeface="Furore" panose="02000503020000020004" pitchFamily="50" charset="0"/>
                <a:ea typeface="Segoe UI Black"/>
              </a:rPr>
              <a:t> Виталий </a:t>
            </a:r>
            <a:r>
              <a:rPr lang="ru-RU" sz="1600" dirty="0" err="1">
                <a:latin typeface="Furore" panose="02000503020000020004" pitchFamily="50" charset="0"/>
                <a:ea typeface="Segoe UI Black"/>
              </a:rPr>
              <a:t>Евгениевич</a:t>
            </a:r>
            <a:endParaRPr lang="ru-RU" sz="1600" dirty="0">
              <a:latin typeface="Furore" panose="02000503020000020004" pitchFamily="50" charset="0"/>
              <a:ea typeface="Segoe UI Black"/>
            </a:endParaRPr>
          </a:p>
        </p:txBody>
      </p:sp>
      <p:sp>
        <p:nvSpPr>
          <p:cNvPr id="6" name="Google Shape;982;p32">
            <a:extLst>
              <a:ext uri="{FF2B5EF4-FFF2-40B4-BE49-F238E27FC236}">
                <a16:creationId xmlns:a16="http://schemas.microsoft.com/office/drawing/2014/main" id="{40F77641-F1FB-4221-B448-05E142A2D80C}"/>
              </a:ext>
            </a:extLst>
          </p:cNvPr>
          <p:cNvSpPr txBox="1">
            <a:spLocks/>
          </p:cNvSpPr>
          <p:nvPr/>
        </p:nvSpPr>
        <p:spPr>
          <a:xfrm>
            <a:off x="0" y="292232"/>
            <a:ext cx="9071264" cy="994672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21640" indent="450215">
              <a:lnSpc>
                <a:spcPct val="150000"/>
              </a:lnSpc>
              <a:spcBef>
                <a:spcPts val="330"/>
              </a:spcBef>
              <a:spcAft>
                <a:spcPts val="0"/>
              </a:spcAft>
            </a:pPr>
            <a:r>
              <a:rPr lang="ru-RU" sz="1600" dirty="0">
                <a:effectLst/>
                <a:latin typeface="Furore" panose="02000503020000020004" pitchFamily="50" charset="0"/>
                <a:ea typeface="Times New Roman" panose="02020603050405020304" pitchFamily="18" charset="0"/>
              </a:rPr>
              <a:t>Департамент образования и науки города Москвы Государственное</a:t>
            </a:r>
            <a:r>
              <a:rPr lang="ru-RU" sz="1600" spc="-45" dirty="0">
                <a:effectLst/>
                <a:latin typeface="Furore" panose="02000503020000020004" pitchFamily="50" charset="0"/>
                <a:ea typeface="Times New Roman" panose="02020603050405020304" pitchFamily="18" charset="0"/>
              </a:rPr>
              <a:t> </a:t>
            </a:r>
            <a:r>
              <a:rPr lang="ru-RU" sz="1600" dirty="0">
                <a:effectLst/>
                <a:latin typeface="Furore" panose="02000503020000020004" pitchFamily="50" charset="0"/>
                <a:ea typeface="Times New Roman" panose="02020603050405020304" pitchFamily="18" charset="0"/>
              </a:rPr>
              <a:t>автономное</a:t>
            </a:r>
            <a:r>
              <a:rPr lang="ru-RU" sz="1600" spc="-45" dirty="0">
                <a:effectLst/>
                <a:latin typeface="Furore" panose="02000503020000020004" pitchFamily="50" charset="0"/>
                <a:ea typeface="Times New Roman" panose="02020603050405020304" pitchFamily="18" charset="0"/>
              </a:rPr>
              <a:t> </a:t>
            </a:r>
            <a:r>
              <a:rPr lang="ru-RU" sz="1600" dirty="0">
                <a:effectLst/>
                <a:latin typeface="Furore" panose="02000503020000020004" pitchFamily="50" charset="0"/>
                <a:ea typeface="Times New Roman" panose="02020603050405020304" pitchFamily="18" charset="0"/>
              </a:rPr>
              <a:t>образовательное</a:t>
            </a:r>
            <a:r>
              <a:rPr lang="ru-RU" sz="1600" spc="-45" dirty="0">
                <a:effectLst/>
                <a:latin typeface="Furore" panose="02000503020000020004" pitchFamily="50" charset="0"/>
                <a:ea typeface="Times New Roman" panose="02020603050405020304" pitchFamily="18" charset="0"/>
              </a:rPr>
              <a:t> </a:t>
            </a:r>
            <a:r>
              <a:rPr lang="ru-RU" sz="1600" dirty="0">
                <a:effectLst/>
                <a:latin typeface="Furore" panose="02000503020000020004" pitchFamily="50" charset="0"/>
                <a:ea typeface="Times New Roman" panose="02020603050405020304" pitchFamily="18" charset="0"/>
              </a:rPr>
              <a:t>учреждение</a:t>
            </a:r>
            <a:r>
              <a:rPr lang="ru-RU" sz="1600" spc="-45" dirty="0">
                <a:effectLst/>
                <a:latin typeface="Furore" panose="02000503020000020004" pitchFamily="50" charset="0"/>
                <a:ea typeface="Times New Roman" panose="02020603050405020304" pitchFamily="18" charset="0"/>
              </a:rPr>
              <a:t> </a:t>
            </a:r>
            <a:r>
              <a:rPr lang="ru-RU" sz="1600" dirty="0">
                <a:effectLst/>
                <a:latin typeface="Furore" panose="02000503020000020004" pitchFamily="50" charset="0"/>
                <a:ea typeface="Times New Roman" panose="02020603050405020304" pitchFamily="18" charset="0"/>
              </a:rPr>
              <a:t>г.</a:t>
            </a:r>
            <a:r>
              <a:rPr lang="ru-RU" sz="1600" spc="-40" dirty="0">
                <a:effectLst/>
                <a:latin typeface="Furore" panose="02000503020000020004" pitchFamily="50" charset="0"/>
                <a:ea typeface="Times New Roman" panose="02020603050405020304" pitchFamily="18" charset="0"/>
              </a:rPr>
              <a:t> </a:t>
            </a:r>
            <a:r>
              <a:rPr lang="ru-RU" sz="1600" dirty="0">
                <a:effectLst/>
                <a:latin typeface="Furore" panose="02000503020000020004" pitchFamily="50" charset="0"/>
                <a:ea typeface="Times New Roman" panose="02020603050405020304" pitchFamily="18" charset="0"/>
              </a:rPr>
              <a:t>Москвы  №548 «Царицыно»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" name="Google Shape;1355;p57"/>
          <p:cNvSpPr txBox="1">
            <a:spLocks noGrp="1"/>
          </p:cNvSpPr>
          <p:nvPr>
            <p:ph type="title"/>
          </p:nvPr>
        </p:nvSpPr>
        <p:spPr>
          <a:xfrm>
            <a:off x="720000" y="-121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dirty="0">
                <a:latin typeface="Furore" panose="02000503020000020004" pitchFamily="50" charset="0"/>
                <a:ea typeface="Segoe UI Black"/>
              </a:rPr>
              <a:t>Актуальность</a:t>
            </a:r>
          </a:p>
        </p:txBody>
      </p:sp>
      <p:sp>
        <p:nvSpPr>
          <p:cNvPr id="1357" name="Google Shape;1357;p57"/>
          <p:cNvSpPr txBox="1">
            <a:spLocks noGrp="1"/>
          </p:cNvSpPr>
          <p:nvPr>
            <p:ph type="subTitle" idx="1"/>
          </p:nvPr>
        </p:nvSpPr>
        <p:spPr>
          <a:xfrm>
            <a:off x="292813" y="685790"/>
            <a:ext cx="5692351" cy="422899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indent="-317500">
              <a:lnSpc>
                <a:spcPct val="150000"/>
              </a:lnSpc>
              <a:buClr>
                <a:schemeClr val="tx1"/>
              </a:buClr>
              <a:buSzPct val="88000"/>
            </a:pPr>
            <a:r>
              <a:rPr lang="ru-RU" sz="1600" dirty="0">
                <a:solidFill>
                  <a:schemeClr val="tx1">
                    <a:lumMod val="95000"/>
                    <a:lumOff val="5000"/>
                  </a:schemeClr>
                </a:solidFill>
                <a:uFill>
                  <a:noFill/>
                </a:uFill>
                <a:latin typeface="Furore" panose="02000503020000020004" pitchFamily="50" charset="0"/>
                <a:cs typeface="Segoe UI"/>
              </a:rPr>
              <a:t>Корпоративные сети становятся всё сложнее: много компьютеров, серверов, роутеров, </a:t>
            </a:r>
            <a:r>
              <a:rPr lang="ru-RU" sz="1600" dirty="0" err="1">
                <a:solidFill>
                  <a:schemeClr val="tx1">
                    <a:lumMod val="95000"/>
                    <a:lumOff val="5000"/>
                  </a:schemeClr>
                </a:solidFill>
                <a:uFill>
                  <a:noFill/>
                </a:uFill>
                <a:latin typeface="Furore" panose="02000503020000020004" pitchFamily="50" charset="0"/>
                <a:cs typeface="Segoe UI"/>
              </a:rPr>
              <a:t>IoT</a:t>
            </a:r>
            <a:r>
              <a:rPr lang="ru-RU" sz="1600" dirty="0">
                <a:solidFill>
                  <a:schemeClr val="tx1">
                    <a:lumMod val="95000"/>
                    <a:lumOff val="5000"/>
                  </a:schemeClr>
                </a:solidFill>
                <a:uFill>
                  <a:noFill/>
                </a:uFill>
                <a:latin typeface="Furore" panose="02000503020000020004" pitchFamily="50" charset="0"/>
                <a:cs typeface="Segoe UI"/>
              </a:rPr>
              <a:t>-устройств. </a:t>
            </a:r>
          </a:p>
          <a:p>
            <a:pPr marL="457200" indent="-317500">
              <a:lnSpc>
                <a:spcPct val="150000"/>
              </a:lnSpc>
              <a:buClr>
                <a:schemeClr val="tx1"/>
              </a:buClr>
              <a:buSzPct val="88000"/>
            </a:pPr>
            <a:r>
              <a:rPr lang="ru-RU" sz="1600" dirty="0">
                <a:solidFill>
                  <a:schemeClr val="tx1">
                    <a:lumMod val="95000"/>
                    <a:lumOff val="5000"/>
                  </a:schemeClr>
                </a:solidFill>
                <a:uFill>
                  <a:noFill/>
                </a:uFill>
                <a:latin typeface="Furore" panose="02000503020000020004" pitchFamily="50" charset="0"/>
                <a:cs typeface="Segoe UI"/>
              </a:rPr>
              <a:t>Атаки тоже меняются — становятся скрытыми, «растянутыми» во времени и малозаметными.</a:t>
            </a:r>
          </a:p>
          <a:p>
            <a:pPr marL="457200" indent="-317500">
              <a:lnSpc>
                <a:spcPct val="150000"/>
              </a:lnSpc>
              <a:buClr>
                <a:schemeClr val="tx1"/>
              </a:buClr>
              <a:buSzPct val="88000"/>
            </a:pPr>
            <a:r>
              <a:rPr lang="ru-RU" sz="1600" dirty="0">
                <a:solidFill>
                  <a:schemeClr val="tx1">
                    <a:lumMod val="95000"/>
                    <a:lumOff val="5000"/>
                  </a:schemeClr>
                </a:solidFill>
                <a:uFill>
                  <a:noFill/>
                </a:uFill>
                <a:latin typeface="Furore" panose="02000503020000020004" pitchFamily="50" charset="0"/>
                <a:cs typeface="Segoe UI"/>
              </a:rPr>
              <a:t>Классический мониторинг замечает только большие и очевидные сбои, но не видит странное поведение, которое может быть началом атаки или серьёзной технической проблемы.</a:t>
            </a:r>
          </a:p>
        </p:txBody>
      </p:sp>
      <p:pic>
        <p:nvPicPr>
          <p:cNvPr id="2" name="Рисунок 1" descr="Много компьютеров Изображения – скачать бесплатно на Freepik">
            <a:extLst>
              <a:ext uri="{FF2B5EF4-FFF2-40B4-BE49-F238E27FC236}">
                <a16:creationId xmlns:a16="http://schemas.microsoft.com/office/drawing/2014/main" id="{0A2A86F7-E7D5-6671-112B-B8B2D4136C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7987" y="120015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p36"/>
          <p:cNvSpPr txBox="1">
            <a:spLocks noGrp="1"/>
          </p:cNvSpPr>
          <p:nvPr>
            <p:ph type="title"/>
          </p:nvPr>
        </p:nvSpPr>
        <p:spPr>
          <a:xfrm>
            <a:off x="833029" y="431278"/>
            <a:ext cx="4185780" cy="54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dirty="0">
                <a:latin typeface="Furore" panose="02000503020000020004" pitchFamily="50" charset="0"/>
              </a:rPr>
              <a:t>Цель</a:t>
            </a:r>
            <a:r>
              <a:rPr lang="ru-RU" sz="3200" b="1" dirty="0">
                <a:latin typeface="Furore" panose="02000503020000020004" pitchFamily="50" charset="0"/>
                <a:cs typeface="Arial" panose="020B0604020202020204" pitchFamily="34" charset="0"/>
              </a:rPr>
              <a:t> </a:t>
            </a:r>
            <a:r>
              <a:rPr lang="ru-RU" sz="3200" dirty="0">
                <a:latin typeface="Furore" panose="02000503020000020004" pitchFamily="50" charset="0"/>
              </a:rPr>
              <a:t>проекта</a:t>
            </a:r>
          </a:p>
        </p:txBody>
      </p:sp>
      <p:sp>
        <p:nvSpPr>
          <p:cNvPr id="1025" name="Google Shape;1025;p36"/>
          <p:cNvSpPr txBox="1">
            <a:spLocks noGrp="1"/>
          </p:cNvSpPr>
          <p:nvPr>
            <p:ph type="subTitle" idx="1"/>
          </p:nvPr>
        </p:nvSpPr>
        <p:spPr>
          <a:xfrm>
            <a:off x="833029" y="1827296"/>
            <a:ext cx="3691529" cy="234162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>
              <a:lnSpc>
                <a:spcPct val="150000"/>
              </a:lnSpc>
            </a:pPr>
            <a:r>
              <a:rPr lang="ru-RU" sz="1600" dirty="0">
                <a:solidFill>
                  <a:srgbClr val="000000"/>
                </a:solidFill>
                <a:latin typeface="Furore" panose="02000503020000020004" pitchFamily="50" charset="0"/>
                <a:cs typeface="Segoe UI"/>
              </a:rPr>
              <a:t>Создать систему</a:t>
            </a:r>
            <a:r>
              <a:rPr lang="ru-RU" sz="1600" dirty="0">
                <a:latin typeface="Furore" panose="02000503020000020004" pitchFamily="50" charset="0"/>
                <a:cs typeface="Segoe UI"/>
              </a:rPr>
              <a:t>, которая в режиме реального времени отслеживает поведение сети и питающего напряжения,</a:t>
            </a:r>
            <a:br>
              <a:rPr lang="ru-RU" sz="1600" dirty="0">
                <a:latin typeface="Furore" panose="02000503020000020004" pitchFamily="50" charset="0"/>
                <a:cs typeface="Segoe UI"/>
              </a:rPr>
            </a:br>
            <a:r>
              <a:rPr lang="ru-RU" sz="1600" dirty="0">
                <a:latin typeface="Furore" panose="02000503020000020004" pitchFamily="50" charset="0"/>
                <a:cs typeface="Segoe UI"/>
              </a:rPr>
              <a:t>обнаруживает нетипичные скачки и аномалии и помогает администратору вовремя заметить возможные инциденты.</a:t>
            </a:r>
            <a:endParaRPr lang="ru-RU" sz="1800" dirty="0">
              <a:latin typeface="Furore" panose="02000503020000020004" pitchFamily="50" charset="0"/>
            </a:endParaRPr>
          </a:p>
        </p:txBody>
      </p:sp>
      <p:pic>
        <p:nvPicPr>
          <p:cNvPr id="2" name="Picture 2" descr="Изображение выглядит как текст, диаграмма, число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089518F-ADBA-B589-F168-05E1A19DBD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4619444" y="1467047"/>
            <a:ext cx="4051493" cy="2209406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p34"/>
          <p:cNvSpPr txBox="1">
            <a:spLocks noGrp="1"/>
          </p:cNvSpPr>
          <p:nvPr>
            <p:ph type="subTitle" idx="1"/>
          </p:nvPr>
        </p:nvSpPr>
        <p:spPr>
          <a:xfrm>
            <a:off x="832198" y="1891544"/>
            <a:ext cx="7479604" cy="243214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42900" indent="-342900">
              <a:lnSpc>
                <a:spcPct val="150000"/>
              </a:lnSpc>
              <a:buSzPct val="100000"/>
              <a:buFont typeface="Calibri Light" panose="020F0302020204030204"/>
              <a:buAutoNum type="arabicPeriod"/>
            </a:pPr>
            <a:r>
              <a:rPr lang="ru-RU" sz="2000" dirty="0">
                <a:latin typeface="Furore" panose="02000503020000020004" pitchFamily="50" charset="0"/>
              </a:rPr>
              <a:t>Смоделировать работу датчиков</a:t>
            </a:r>
            <a:r>
              <a:rPr lang="en-US" sz="2000" dirty="0">
                <a:latin typeface="Furore" panose="02000503020000020004" pitchFamily="50" charset="0"/>
              </a:rPr>
              <a:t>;</a:t>
            </a:r>
            <a:r>
              <a:rPr lang="ru-RU" sz="2000" dirty="0">
                <a:latin typeface="Furore" panose="02000503020000020004" pitchFamily="50" charset="0"/>
              </a:rPr>
              <a:t> напряжения и сетевого трафика</a:t>
            </a:r>
            <a:r>
              <a:rPr lang="en-US" sz="2000" dirty="0">
                <a:latin typeface="Furore" panose="02000503020000020004" pitchFamily="50" charset="0"/>
              </a:rPr>
              <a:t>;</a:t>
            </a:r>
            <a:endParaRPr lang="ru-RU" sz="2000" dirty="0">
              <a:latin typeface="Furore" panose="02000503020000020004" pitchFamily="50" charset="0"/>
            </a:endParaRPr>
          </a:p>
          <a:p>
            <a:pPr marL="342900" indent="-342900">
              <a:lnSpc>
                <a:spcPct val="150000"/>
              </a:lnSpc>
              <a:buSzPct val="100000"/>
              <a:buFont typeface="Calibri Light" panose="020F0302020204030204"/>
              <a:buAutoNum type="arabicPeriod"/>
            </a:pPr>
            <a:r>
              <a:rPr lang="ru-RU" sz="2000" dirty="0">
                <a:latin typeface="Furore" panose="02000503020000020004" pitchFamily="50" charset="0"/>
              </a:rPr>
              <a:t>Организовать безопасную передачу данных на сервер</a:t>
            </a:r>
            <a:r>
              <a:rPr lang="en-US" sz="2000" dirty="0">
                <a:latin typeface="Furore" panose="02000503020000020004" pitchFamily="50" charset="0"/>
              </a:rPr>
              <a:t>;</a:t>
            </a:r>
            <a:endParaRPr lang="ru-RU" sz="2000" dirty="0">
              <a:latin typeface="Furore" panose="02000503020000020004" pitchFamily="50" charset="0"/>
            </a:endParaRPr>
          </a:p>
          <a:p>
            <a:pPr marL="342900" indent="-342900">
              <a:lnSpc>
                <a:spcPct val="150000"/>
              </a:lnSpc>
              <a:buSzPct val="100000"/>
              <a:buAutoNum type="arabicPeriod"/>
            </a:pPr>
            <a:r>
              <a:rPr lang="ru-RU" sz="2000" dirty="0">
                <a:latin typeface="Furore" panose="02000503020000020004" pitchFamily="50" charset="0"/>
              </a:rPr>
              <a:t>Обучить </a:t>
            </a:r>
            <a:r>
              <a:rPr lang="ru-RU" sz="2000" dirty="0" err="1">
                <a:latin typeface="Furore" panose="02000503020000020004" pitchFamily="50" charset="0"/>
              </a:rPr>
              <a:t>автоэнкодер</a:t>
            </a:r>
            <a:r>
              <a:rPr lang="ru-RU" sz="2000" dirty="0">
                <a:latin typeface="Furore" panose="02000503020000020004" pitchFamily="50" charset="0"/>
              </a:rPr>
              <a:t> на «нормальном» поведении сети</a:t>
            </a:r>
            <a:r>
              <a:rPr lang="en-US" sz="2000" dirty="0">
                <a:latin typeface="Furore" panose="02000503020000020004" pitchFamily="50" charset="0"/>
              </a:rPr>
              <a:t>;</a:t>
            </a:r>
            <a:endParaRPr lang="ru-RU" sz="2000" dirty="0">
              <a:latin typeface="Furore" panose="02000503020000020004" pitchFamily="50" charset="0"/>
            </a:endParaRPr>
          </a:p>
          <a:p>
            <a:pPr marL="342900" indent="-342900">
              <a:lnSpc>
                <a:spcPct val="150000"/>
              </a:lnSpc>
              <a:buSzPct val="100000"/>
              <a:buFont typeface="Calibri Light" panose="020F0302020204030204"/>
              <a:buAutoNum type="arabicPeriod"/>
            </a:pPr>
            <a:r>
              <a:rPr lang="ru-RU" sz="2000" dirty="0">
                <a:latin typeface="Furore" panose="02000503020000020004" pitchFamily="50" charset="0"/>
              </a:rPr>
              <a:t>Реализовать детектор аномалий</a:t>
            </a:r>
            <a:r>
              <a:rPr lang="en-US" sz="2000" dirty="0">
                <a:latin typeface="Furore" panose="02000503020000020004" pitchFamily="50" charset="0"/>
              </a:rPr>
              <a:t>;</a:t>
            </a:r>
            <a:endParaRPr lang="ru-RU" sz="2000" dirty="0">
              <a:latin typeface="Furore" panose="02000503020000020004" pitchFamily="50" charset="0"/>
            </a:endParaRPr>
          </a:p>
          <a:p>
            <a:pPr marL="342900" indent="-342900">
              <a:lnSpc>
                <a:spcPct val="150000"/>
              </a:lnSpc>
              <a:buSzPct val="100000"/>
              <a:buAutoNum type="arabicPeriod"/>
            </a:pPr>
            <a:r>
              <a:rPr lang="ru-RU" sz="2000" dirty="0">
                <a:latin typeface="Furore" panose="02000503020000020004" pitchFamily="50" charset="0"/>
              </a:rPr>
              <a:t>Сделать удобную веб-панель мониторинга с вкладкой «Состояние системы».</a:t>
            </a:r>
          </a:p>
          <a:p>
            <a:pPr marL="342900" indent="-342900">
              <a:lnSpc>
                <a:spcPct val="150000"/>
              </a:lnSpc>
              <a:buSzPct val="100000"/>
              <a:buFont typeface="Calibri Light" panose="020F0302020204030204"/>
              <a:buAutoNum type="arabicPeriod"/>
            </a:pPr>
            <a:endParaRPr lang="ru-RU" sz="2000" dirty="0">
              <a:latin typeface="Furore" panose="02000503020000020004" pitchFamily="50" charset="0"/>
            </a:endParaRPr>
          </a:p>
        </p:txBody>
      </p:sp>
      <p:sp>
        <p:nvSpPr>
          <p:cNvPr id="4" name="Google Shape;998;p34">
            <a:extLst>
              <a:ext uri="{FF2B5EF4-FFF2-40B4-BE49-F238E27FC236}">
                <a16:creationId xmlns:a16="http://schemas.microsoft.com/office/drawing/2014/main" id="{35C091BD-6ACA-D22E-6478-991A4707A50E}"/>
              </a:ext>
            </a:extLst>
          </p:cNvPr>
          <p:cNvSpPr txBox="1">
            <a:spLocks/>
          </p:cNvSpPr>
          <p:nvPr/>
        </p:nvSpPr>
        <p:spPr>
          <a:xfrm>
            <a:off x="2391254" y="222923"/>
            <a:ext cx="4664173" cy="5118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lvl="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kern="120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+mj-c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ru-RU" sz="3600" dirty="0">
                <a:latin typeface="Furore" panose="02000503020000020004" pitchFamily="50" charset="0"/>
              </a:rPr>
              <a:t>Задачи проекта</a:t>
            </a:r>
          </a:p>
        </p:txBody>
      </p:sp>
    </p:spTree>
    <p:extLst>
      <p:ext uri="{BB962C8B-B14F-4D97-AF65-F5344CB8AC3E}">
        <p14:creationId xmlns:p14="http://schemas.microsoft.com/office/powerpoint/2010/main" val="9058937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40"/>
          <p:cNvSpPr txBox="1">
            <a:spLocks noGrp="1"/>
          </p:cNvSpPr>
          <p:nvPr>
            <p:ph type="subTitle" idx="3"/>
          </p:nvPr>
        </p:nvSpPr>
        <p:spPr>
          <a:xfrm>
            <a:off x="33764" y="932758"/>
            <a:ext cx="5665716" cy="374667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dirty="0" err="1">
                <a:latin typeface="Furore" panose="02000503020000020004" pitchFamily="50" charset="0"/>
                <a:cs typeface="Segoe UI" panose="020B0502040204020203" pitchFamily="34" charset="0"/>
              </a:rPr>
              <a:t>Zeek</a:t>
            </a:r>
            <a:r>
              <a:rPr lang="ru-RU" sz="1600" dirty="0">
                <a:latin typeface="Furore" panose="02000503020000020004" pitchFamily="50" charset="0"/>
                <a:cs typeface="Segoe UI" panose="020B0502040204020203" pitchFamily="34" charset="0"/>
              </a:rPr>
              <a:t> / </a:t>
            </a:r>
            <a:r>
              <a:rPr lang="ru-RU" sz="1600" dirty="0" err="1">
                <a:latin typeface="Furore" panose="02000503020000020004" pitchFamily="50" charset="0"/>
                <a:cs typeface="Segoe UI" panose="020B0502040204020203" pitchFamily="34" charset="0"/>
              </a:rPr>
              <a:t>Suricata</a:t>
            </a:r>
            <a:r>
              <a:rPr lang="ru-RU" sz="1600" dirty="0">
                <a:latin typeface="Furore" panose="02000503020000020004" pitchFamily="50" charset="0"/>
                <a:cs typeface="Segoe UI" panose="020B0502040204020203" pitchFamily="34" charset="0"/>
              </a:rPr>
              <a:t> — только анализ трафика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dirty="0" err="1">
                <a:latin typeface="Furore" panose="02000503020000020004" pitchFamily="50" charset="0"/>
                <a:cs typeface="Segoe UI" panose="020B0502040204020203" pitchFamily="34" charset="0"/>
              </a:rPr>
              <a:t>Darktrace</a:t>
            </a:r>
            <a:r>
              <a:rPr lang="ru-RU" sz="1600" dirty="0">
                <a:latin typeface="Furore" panose="02000503020000020004" pitchFamily="50" charset="0"/>
                <a:cs typeface="Segoe UI" panose="020B0502040204020203" pitchFamily="34" charset="0"/>
              </a:rPr>
              <a:t> — мощный ML-анализ, но закрытая и дорогая система.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latin typeface="Furore" panose="02000503020000020004" pitchFamily="50" charset="0"/>
                <a:cs typeface="Segoe UI" panose="020B0502040204020203" pitchFamily="34" charset="0"/>
              </a:rPr>
              <a:t>Cisco </a:t>
            </a:r>
            <a:r>
              <a:rPr lang="ru-RU" sz="1600" dirty="0" err="1">
                <a:latin typeface="Furore" panose="02000503020000020004" pitchFamily="50" charset="0"/>
                <a:cs typeface="Segoe UI" panose="020B0502040204020203" pitchFamily="34" charset="0"/>
              </a:rPr>
              <a:t>Stealthwatch</a:t>
            </a:r>
            <a:r>
              <a:rPr lang="ru-RU" sz="1600" dirty="0">
                <a:latin typeface="Furore" panose="02000503020000020004" pitchFamily="50" charset="0"/>
                <a:cs typeface="Segoe UI" panose="020B0502040204020203" pitchFamily="34" charset="0"/>
              </a:rPr>
              <a:t> — анализ поведения сети без нейросетей.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dirty="0" err="1">
                <a:latin typeface="Furore" panose="02000503020000020004" pitchFamily="50" charset="0"/>
                <a:cs typeface="Segoe UI" panose="020B0502040204020203" pitchFamily="34" charset="0"/>
              </a:rPr>
              <a:t>Zabbix</a:t>
            </a:r>
            <a:r>
              <a:rPr lang="ru-RU" sz="1600" dirty="0">
                <a:latin typeface="Furore" panose="02000503020000020004" pitchFamily="50" charset="0"/>
                <a:cs typeface="Segoe UI" panose="020B0502040204020203" pitchFamily="34" charset="0"/>
              </a:rPr>
              <a:t> / </a:t>
            </a:r>
            <a:r>
              <a:rPr lang="ru-RU" sz="1600" dirty="0" err="1">
                <a:latin typeface="Furore" panose="02000503020000020004" pitchFamily="50" charset="0"/>
                <a:cs typeface="Segoe UI" panose="020B0502040204020203" pitchFamily="34" charset="0"/>
              </a:rPr>
              <a:t>Nagios</a:t>
            </a:r>
            <a:r>
              <a:rPr lang="ru-RU" sz="1600" dirty="0">
                <a:latin typeface="Furore" panose="02000503020000020004" pitchFamily="50" charset="0"/>
                <a:cs typeface="Segoe UI" panose="020B0502040204020203" pitchFamily="34" charset="0"/>
              </a:rPr>
              <a:t> — классический мониторинг, только пороговые правила.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latin typeface="Furore" panose="02000503020000020004" pitchFamily="50" charset="0"/>
                <a:cs typeface="Segoe UI" panose="020B0502040204020203" pitchFamily="34" charset="0"/>
              </a:rPr>
              <a:t>ELK + ML — анализ логов, но не работает автономно и требует инфраструктуры</a:t>
            </a:r>
          </a:p>
        </p:txBody>
      </p:sp>
      <p:sp>
        <p:nvSpPr>
          <p:cNvPr id="1066" name="Google Shape;1066;p40"/>
          <p:cNvSpPr txBox="1">
            <a:spLocks noGrp="1"/>
          </p:cNvSpPr>
          <p:nvPr>
            <p:ph type="title"/>
          </p:nvPr>
        </p:nvSpPr>
        <p:spPr>
          <a:xfrm>
            <a:off x="617126" y="1546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dirty="0">
                <a:latin typeface="Furore" panose="02000503020000020004" pitchFamily="50" charset="0"/>
              </a:rPr>
              <a:t>Сравнение с аналогами</a:t>
            </a:r>
            <a:endParaRPr sz="3200" dirty="0">
              <a:latin typeface="Furore" panose="02000503020000020004" pitchFamily="50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A468B5B-7895-49AA-B878-BE45469F987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81578" y="838868"/>
            <a:ext cx="3102544" cy="16292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11" name="Google Shape;1069;p40">
            <a:extLst>
              <a:ext uri="{FF2B5EF4-FFF2-40B4-BE49-F238E27FC236}">
                <a16:creationId xmlns:a16="http://schemas.microsoft.com/office/drawing/2014/main" id="{9CB1C2C1-E25F-4A71-B10C-8F4F2D15A63E}"/>
              </a:ext>
            </a:extLst>
          </p:cNvPr>
          <p:cNvSpPr txBox="1">
            <a:spLocks/>
          </p:cNvSpPr>
          <p:nvPr/>
        </p:nvSpPr>
        <p:spPr>
          <a:xfrm>
            <a:off x="7416346" y="2291432"/>
            <a:ext cx="1386877" cy="514665"/>
          </a:xfrm>
          <a:prstGeom prst="roundRect">
            <a:avLst>
              <a:gd name="adj" fmla="val 19280"/>
            </a:avLst>
          </a:prstGeom>
          <a:solidFill>
            <a:schemeClr val="accent1">
              <a:lumMod val="90000"/>
            </a:schemeClr>
          </a:solidFill>
          <a:ln>
            <a:noFill/>
          </a:ln>
          <a:effectLst/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marL="171450" lvl="0" indent="-17145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21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514350" lvl="1" indent="-171450" algn="ctr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lvl="2" indent="-171450" algn="ctr" defTabSz="685800" rtl="0" eaLnBrk="1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lvl="3" indent="-171450" algn="ctr" defTabSz="685800" rtl="0" eaLnBrk="1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lvl="4" indent="-171450" algn="ctr" defTabSz="685800" rtl="0" eaLnBrk="1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lvl="5" indent="-171450" algn="ctr" defTabSz="685800" rtl="0" eaLnBrk="1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lvl="6" indent="-171450" algn="ctr" defTabSz="685800" rtl="0" eaLnBrk="1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lvl="7" indent="-171450" algn="ctr" defTabSz="685800" rtl="0" eaLnBrk="1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lvl="8" indent="-171450" algn="ctr" defTabSz="685800" rtl="0" eaLnBrk="1" latinLnBrk="0" hangingPunct="1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/>
            <a:r>
              <a:rPr lang="en-US" sz="1400" dirty="0">
                <a:latin typeface="Furore" panose="02000503020000020004" pitchFamily="50" charset="0"/>
                <a:cs typeface="Segoe UI" panose="020B0502040204020203" pitchFamily="34" charset="0"/>
              </a:rPr>
              <a:t>DarkTrace</a:t>
            </a:r>
            <a:endParaRPr lang="ru-RU" sz="1400" dirty="0">
              <a:latin typeface="Furore" panose="02000503020000020004" pitchFamily="50" charset="0"/>
              <a:cs typeface="Segoe UI" panose="020B0502040204020203" pitchFamily="34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695517B-0DD9-4260-827B-8F938906228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 rot="10800000" flipH="1" flipV="1">
            <a:off x="5699480" y="3144100"/>
            <a:ext cx="3179766" cy="16508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12" name="Google Shape;1069;p40">
            <a:extLst>
              <a:ext uri="{FF2B5EF4-FFF2-40B4-BE49-F238E27FC236}">
                <a16:creationId xmlns:a16="http://schemas.microsoft.com/office/drawing/2014/main" id="{EA9AFF1F-007B-4D48-9E4C-338E9BE03AC9}"/>
              </a:ext>
            </a:extLst>
          </p:cNvPr>
          <p:cNvSpPr txBox="1">
            <a:spLocks/>
          </p:cNvSpPr>
          <p:nvPr/>
        </p:nvSpPr>
        <p:spPr>
          <a:xfrm>
            <a:off x="7634554" y="4482471"/>
            <a:ext cx="950459" cy="514665"/>
          </a:xfrm>
          <a:prstGeom prst="roundRect">
            <a:avLst>
              <a:gd name="adj" fmla="val 19280"/>
            </a:avLst>
          </a:prstGeom>
          <a:solidFill>
            <a:schemeClr val="accent1">
              <a:lumMod val="90000"/>
            </a:schemeClr>
          </a:solidFill>
          <a:ln>
            <a:noFill/>
          </a:ln>
          <a:effectLst/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marL="171450" lvl="0" indent="-17145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21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514350" lvl="1" indent="-171450" algn="ctr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lvl="2" indent="-171450" algn="ctr" defTabSz="685800" rtl="0" eaLnBrk="1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lvl="3" indent="-171450" algn="ctr" defTabSz="685800" rtl="0" eaLnBrk="1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lvl="4" indent="-171450" algn="ctr" defTabSz="685800" rtl="0" eaLnBrk="1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lvl="5" indent="-171450" algn="ctr" defTabSz="685800" rtl="0" eaLnBrk="1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lvl="6" indent="-171450" algn="ctr" defTabSz="685800" rtl="0" eaLnBrk="1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lvl="7" indent="-171450" algn="ctr" defTabSz="685800" rtl="0" eaLnBrk="1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lvl="8" indent="-171450" algn="ctr" defTabSz="685800" rtl="0" eaLnBrk="1" latinLnBrk="0" hangingPunct="1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/>
            <a:r>
              <a:rPr lang="en-US" sz="1400" dirty="0">
                <a:latin typeface="Furore" panose="02000503020000020004" pitchFamily="50" charset="0"/>
                <a:cs typeface="Segoe UI" panose="020B0502040204020203" pitchFamily="34" charset="0"/>
              </a:rPr>
              <a:t>Zabbix</a:t>
            </a:r>
            <a:endParaRPr lang="ru-RU" sz="1400" dirty="0">
              <a:latin typeface="Furore" panose="02000503020000020004" pitchFamily="50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40"/>
          <p:cNvSpPr txBox="1">
            <a:spLocks noGrp="1"/>
          </p:cNvSpPr>
          <p:nvPr>
            <p:ph type="title"/>
          </p:nvPr>
        </p:nvSpPr>
        <p:spPr>
          <a:xfrm>
            <a:off x="617126" y="1546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dirty="0">
                <a:latin typeface="Furore" panose="02000503020000020004" pitchFamily="50" charset="0"/>
              </a:rPr>
              <a:t>ПРИНЦИП РАБОТЫ проекта</a:t>
            </a:r>
            <a:endParaRPr sz="3200" dirty="0">
              <a:latin typeface="Furore" panose="02000503020000020004" pitchFamily="50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D064873-C222-477E-9954-A7D95BF10D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18" y="1357733"/>
            <a:ext cx="8967355" cy="2428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889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" name="Google Shape;1348;p56"/>
          <p:cNvSpPr txBox="1">
            <a:spLocks noGrp="1"/>
          </p:cNvSpPr>
          <p:nvPr>
            <p:ph type="title"/>
          </p:nvPr>
        </p:nvSpPr>
        <p:spPr>
          <a:xfrm>
            <a:off x="871850" y="184404"/>
            <a:ext cx="2563973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dirty="0">
                <a:latin typeface="Furore" panose="02000503020000020004" pitchFamily="50" charset="0"/>
              </a:rPr>
              <a:t>Выводы</a:t>
            </a:r>
            <a:endParaRPr sz="3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801BBF8-FA5F-82BB-CF47-FCB5B556698A}"/>
              </a:ext>
            </a:extLst>
          </p:cNvPr>
          <p:cNvSpPr txBox="1"/>
          <p:nvPr/>
        </p:nvSpPr>
        <p:spPr>
          <a:xfrm>
            <a:off x="871850" y="888703"/>
            <a:ext cx="6602506" cy="4191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SzPct val="150000"/>
              <a:buFont typeface="Arial" panose="020B0604020202020204" pitchFamily="34" charset="0"/>
              <a:buChar char="•"/>
            </a:pPr>
            <a:r>
              <a:rPr lang="ru-RU" dirty="0">
                <a:latin typeface="Furore" panose="02000503020000020004" pitchFamily="50" charset="0"/>
              </a:rPr>
              <a:t>Смоделирована работа датчиков</a:t>
            </a:r>
            <a:r>
              <a:rPr lang="en-US" dirty="0">
                <a:latin typeface="Furore" panose="02000503020000020004" pitchFamily="50" charset="0"/>
              </a:rPr>
              <a:t>;</a:t>
            </a:r>
            <a:r>
              <a:rPr lang="ru-RU" dirty="0">
                <a:latin typeface="Furore" panose="02000503020000020004" pitchFamily="50" charset="0"/>
              </a:rPr>
              <a:t> напряжения и сетевого трафика</a:t>
            </a:r>
            <a:r>
              <a:rPr lang="en-US" dirty="0">
                <a:latin typeface="Furore" panose="02000503020000020004" pitchFamily="50" charset="0"/>
              </a:rPr>
              <a:t>;</a:t>
            </a:r>
            <a:endParaRPr lang="ru-RU" dirty="0">
              <a:latin typeface="Furore" panose="02000503020000020004" pitchFamily="50" charset="0"/>
            </a:endParaRPr>
          </a:p>
          <a:p>
            <a:pPr marL="342900" indent="-342900">
              <a:lnSpc>
                <a:spcPct val="150000"/>
              </a:lnSpc>
              <a:buSzPct val="150000"/>
              <a:buFont typeface="Arial" panose="020B0604020202020204" pitchFamily="34" charset="0"/>
              <a:buChar char="•"/>
            </a:pPr>
            <a:r>
              <a:rPr lang="ru-RU" dirty="0">
                <a:latin typeface="Furore" panose="02000503020000020004" pitchFamily="50" charset="0"/>
              </a:rPr>
              <a:t>Организована безопасная передача</a:t>
            </a:r>
            <a:r>
              <a:rPr lang="en-US" dirty="0">
                <a:latin typeface="Furore" panose="02000503020000020004" pitchFamily="50" charset="0"/>
              </a:rPr>
              <a:t>;</a:t>
            </a:r>
            <a:r>
              <a:rPr lang="ru-RU" dirty="0">
                <a:latin typeface="Furore" panose="02000503020000020004" pitchFamily="50" charset="0"/>
              </a:rPr>
              <a:t> данных на сервер</a:t>
            </a:r>
            <a:r>
              <a:rPr lang="en-US" dirty="0">
                <a:latin typeface="Furore" panose="02000503020000020004" pitchFamily="50" charset="0"/>
              </a:rPr>
              <a:t>;</a:t>
            </a:r>
            <a:endParaRPr lang="ru-RU" dirty="0">
              <a:latin typeface="Furore" panose="02000503020000020004" pitchFamily="50" charset="0"/>
            </a:endParaRPr>
          </a:p>
          <a:p>
            <a:pPr marL="342900" indent="-342900">
              <a:lnSpc>
                <a:spcPct val="150000"/>
              </a:lnSpc>
              <a:buSzPct val="150000"/>
              <a:buFont typeface="Arial" panose="020B0604020202020204" pitchFamily="34" charset="0"/>
              <a:buChar char="•"/>
            </a:pPr>
            <a:r>
              <a:rPr lang="ru-RU" dirty="0">
                <a:latin typeface="Furore" panose="02000503020000020004" pitchFamily="50" charset="0"/>
              </a:rPr>
              <a:t>Обучен </a:t>
            </a:r>
            <a:r>
              <a:rPr lang="ru-RU" dirty="0" err="1">
                <a:latin typeface="Furore" panose="02000503020000020004" pitchFamily="50" charset="0"/>
              </a:rPr>
              <a:t>автоэнкодер</a:t>
            </a:r>
            <a:r>
              <a:rPr lang="ru-RU" dirty="0">
                <a:latin typeface="Furore" panose="02000503020000020004" pitchFamily="50" charset="0"/>
              </a:rPr>
              <a:t> на «нормальном»</a:t>
            </a:r>
            <a:r>
              <a:rPr lang="en-US" dirty="0">
                <a:latin typeface="Furore" panose="02000503020000020004" pitchFamily="50" charset="0"/>
              </a:rPr>
              <a:t>;</a:t>
            </a:r>
            <a:r>
              <a:rPr lang="ru-RU" dirty="0">
                <a:latin typeface="Furore" panose="02000503020000020004" pitchFamily="50" charset="0"/>
              </a:rPr>
              <a:t> поведении сети</a:t>
            </a:r>
            <a:r>
              <a:rPr lang="en-US" dirty="0">
                <a:latin typeface="Furore" panose="02000503020000020004" pitchFamily="50" charset="0"/>
              </a:rPr>
              <a:t>;</a:t>
            </a:r>
            <a:endParaRPr lang="ru-RU" dirty="0">
              <a:latin typeface="Furore" panose="02000503020000020004" pitchFamily="50" charset="0"/>
            </a:endParaRPr>
          </a:p>
          <a:p>
            <a:pPr marL="285750" indent="-285750">
              <a:lnSpc>
                <a:spcPct val="150000"/>
              </a:lnSpc>
              <a:buSzPct val="150000"/>
              <a:buFont typeface="Arial" panose="020B0604020202020204" pitchFamily="34" charset="0"/>
              <a:buChar char="•"/>
            </a:pPr>
            <a:r>
              <a:rPr lang="ru-RU" dirty="0">
                <a:latin typeface="Furore" panose="02000503020000020004" pitchFamily="50" charset="0"/>
              </a:rPr>
              <a:t>Реализован детектор аномалий</a:t>
            </a:r>
            <a:r>
              <a:rPr lang="en-US" dirty="0">
                <a:latin typeface="Furore" panose="02000503020000020004" pitchFamily="50" charset="0"/>
              </a:rPr>
              <a:t>;</a:t>
            </a:r>
            <a:endParaRPr lang="ru-RU" dirty="0">
              <a:latin typeface="Furore" panose="02000503020000020004" pitchFamily="50" charset="0"/>
            </a:endParaRPr>
          </a:p>
          <a:p>
            <a:pPr marL="285750" indent="-285750">
              <a:lnSpc>
                <a:spcPct val="150000"/>
              </a:lnSpc>
              <a:buSzPct val="150000"/>
              <a:buFont typeface="Arial" panose="020B0604020202020204" pitchFamily="34" charset="0"/>
              <a:buChar char="•"/>
            </a:pPr>
            <a:r>
              <a:rPr lang="ru-RU" dirty="0">
                <a:latin typeface="Furore" panose="02000503020000020004" pitchFamily="50" charset="0"/>
              </a:rPr>
              <a:t>Выполнена веб-панель мониторинга с вкладкой «Состояние системы».</a:t>
            </a:r>
          </a:p>
          <a:p>
            <a:pPr>
              <a:lnSpc>
                <a:spcPct val="150000"/>
              </a:lnSpc>
              <a:buSzPct val="150000"/>
            </a:pPr>
            <a:endParaRPr lang="ru-RU" dirty="0">
              <a:latin typeface="Bahnschrift SemiBold Condensed" panose="020B0502040204020203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26373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988;p33">
            <a:extLst>
              <a:ext uri="{FF2B5EF4-FFF2-40B4-BE49-F238E27FC236}">
                <a16:creationId xmlns:a16="http://schemas.microsoft.com/office/drawing/2014/main" id="{38F43626-95AC-47F9-BB2D-A2FE09F6A7F3}"/>
              </a:ext>
            </a:extLst>
          </p:cNvPr>
          <p:cNvSpPr txBox="1">
            <a:spLocks/>
          </p:cNvSpPr>
          <p:nvPr/>
        </p:nvSpPr>
        <p:spPr>
          <a:xfrm>
            <a:off x="1089213" y="139993"/>
            <a:ext cx="3482787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lvl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300" kern="120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+mj-c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ru-RU" sz="3200" dirty="0">
                <a:latin typeface="Furore" panose="02000503020000020004" pitchFamily="50" charset="0"/>
              </a:rPr>
              <a:t>Перспективы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51AFE9-228F-F648-F8B0-50358D3581D2}"/>
              </a:ext>
            </a:extLst>
          </p:cNvPr>
          <p:cNvSpPr txBox="1"/>
          <p:nvPr/>
        </p:nvSpPr>
        <p:spPr>
          <a:xfrm>
            <a:off x="1089213" y="826952"/>
            <a:ext cx="6535271" cy="4178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SzPct val="150000"/>
              <a:buFont typeface="Arial" panose="020B0604020202020204" pitchFamily="34" charset="0"/>
              <a:buChar char="•"/>
            </a:pPr>
            <a:r>
              <a:rPr lang="ru-RU" dirty="0">
                <a:latin typeface="Furore" panose="02000503020000020004" pitchFamily="50" charset="0"/>
              </a:rPr>
              <a:t>Подключение реальных датчиков напряжения и сетевого трафика вместо симуляции</a:t>
            </a:r>
            <a:r>
              <a:rPr lang="en-US" dirty="0">
                <a:latin typeface="Furore" panose="02000503020000020004" pitchFamily="50" charset="0"/>
              </a:rPr>
              <a:t>;</a:t>
            </a:r>
          </a:p>
          <a:p>
            <a:pPr marL="342900" indent="-342900">
              <a:lnSpc>
                <a:spcPct val="150000"/>
              </a:lnSpc>
              <a:buSzPct val="150000"/>
              <a:buFont typeface="Arial" panose="020B0604020202020204" pitchFamily="34" charset="0"/>
              <a:buChar char="•"/>
            </a:pPr>
            <a:r>
              <a:rPr lang="ru-RU" dirty="0">
                <a:latin typeface="Furore" panose="02000503020000020004" pitchFamily="50" charset="0"/>
              </a:rPr>
              <a:t>Добавление новых параметров анализа</a:t>
            </a:r>
            <a:r>
              <a:rPr lang="en-US" dirty="0">
                <a:latin typeface="Furore" panose="02000503020000020004" pitchFamily="50" charset="0"/>
              </a:rPr>
              <a:t>;</a:t>
            </a:r>
          </a:p>
          <a:p>
            <a:pPr marL="342900" indent="-342900">
              <a:lnSpc>
                <a:spcPct val="150000"/>
              </a:lnSpc>
              <a:buSzPct val="150000"/>
              <a:buFont typeface="Arial" panose="020B0604020202020204" pitchFamily="34" charset="0"/>
              <a:buChar char="•"/>
            </a:pPr>
            <a:r>
              <a:rPr lang="ru-RU" dirty="0">
                <a:latin typeface="Furore" panose="02000503020000020004" pitchFamily="50" charset="0"/>
              </a:rPr>
              <a:t>Масштабирование на всю организацию — поддержка нескольких офисов и серверов</a:t>
            </a:r>
            <a:r>
              <a:rPr lang="en-US" dirty="0">
                <a:latin typeface="Furore" panose="02000503020000020004" pitchFamily="50" charset="0"/>
              </a:rPr>
              <a:t>;</a:t>
            </a:r>
          </a:p>
          <a:p>
            <a:pPr marL="342900" indent="-342900">
              <a:lnSpc>
                <a:spcPct val="150000"/>
              </a:lnSpc>
              <a:buSzPct val="150000"/>
              <a:buFont typeface="Arial" panose="020B0604020202020204" pitchFamily="34" charset="0"/>
              <a:buChar char="•"/>
            </a:pPr>
            <a:r>
              <a:rPr lang="ru-RU" dirty="0">
                <a:latin typeface="Furore" panose="02000503020000020004" pitchFamily="50" charset="0"/>
              </a:rPr>
              <a:t>Предсказание аварий с помощью анализа трендов (прогнозирование по временным рядам)</a:t>
            </a:r>
            <a:r>
              <a:rPr lang="en-US" dirty="0">
                <a:latin typeface="Furore" panose="02000503020000020004" pitchFamily="50" charset="0"/>
              </a:rPr>
              <a:t>.</a:t>
            </a:r>
            <a:endParaRPr lang="ru-RU" dirty="0">
              <a:latin typeface="Furore" panose="0200050302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676006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2044</TotalTime>
  <Words>303</Words>
  <Application>Microsoft Office PowerPoint</Application>
  <PresentationFormat>Экран (16:9)</PresentationFormat>
  <Paragraphs>36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7" baseType="lpstr">
      <vt:lpstr>Calibri</vt:lpstr>
      <vt:lpstr>Bahnschrift SemiBold Condensed</vt:lpstr>
      <vt:lpstr>Calibri Light</vt:lpstr>
      <vt:lpstr>Furore</vt:lpstr>
      <vt:lpstr>Century Gothic</vt:lpstr>
      <vt:lpstr>Segoe UI Black</vt:lpstr>
      <vt:lpstr>Bebas Neue</vt:lpstr>
      <vt:lpstr>Arial</vt:lpstr>
      <vt:lpstr>Тема Office</vt:lpstr>
      <vt:lpstr>Интеллектуальная система обнаружения аномалий</vt:lpstr>
      <vt:lpstr>Актуальность</vt:lpstr>
      <vt:lpstr>Цель проекта</vt:lpstr>
      <vt:lpstr>Презентация PowerPoint</vt:lpstr>
      <vt:lpstr>Сравнение с аналогами</vt:lpstr>
      <vt:lpstr>ПРИНЦИП РАБОТЫ проекта</vt:lpstr>
      <vt:lpstr>Выводы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Minimalist Thesis Defense.</dc:title>
  <dc:creator>Андрей</dc:creator>
  <cp:lastModifiedBy>Andrey Yarylchenko</cp:lastModifiedBy>
  <cp:revision>166</cp:revision>
  <dcterms:modified xsi:type="dcterms:W3CDTF">2025-11-30T12:18:19Z</dcterms:modified>
</cp:coreProperties>
</file>